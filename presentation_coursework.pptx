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день, уважаемые члены комиссии! Представляю вашему вниманию курсовую работу на тему «Разработка веб-приложения текстового редактора». Работа выполнена на кафедре информационных технологий. Позвольте перейти к докладу.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Актуальность работы обусловлена растущим объёмом информации, с которым сталкивается современный человек. Традиционные редакторы, такие как Microsoft Word, часто избыточны для быстрых заметок или структурирования идей. Современные тенденции, в частности популярность Notion, показывают востребованность блочных редакторов, где каждый элемент документа — независимый блок. Разработанное приложение предлагает лёгкую, кроссплатформенную альтернативу с иерархической организацией контента и современным интерфейсом. Области применения включают личное планирование, управление проектами, образование и создание технической документации.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работы — создание веб-приложения текстового редактора с блочной структурой. Для достижения цели поставлено шесть задач, которые были выполнены в полном объёме. Объект исследования — процесс разработки веб-приложений; предмет — методы и технологии создания компонентного редактора.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называется TaskList. Это одностраничное приложение, которое сочетает в себе функции текстового редактора и менеджера задач. Ключевые возможности: блочный редактор с четырьмя типами блоков, иерархическая структура документов с неограниченной вложенностью, Drag-and-Drop перетаскивание, рекурсивный поиск, каскадное обновление статусов, адаптивный интерфейс с тёмной темой и поддержкой четырёх языков. Также зарезервировано место для AI-функций.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Функциональность приложения включает полный цикл CRUD для документов и блоков. Создание осуществляется через специальную форму, редактирование — непосредственно на странице просмотра. Блоки можно добавлять, удалять и переставлять местами. Поиск работает рекурсивно по всему дереву задач, сохраняя контекст найденных элементов. Система настроек позволяет переключать тему и язык, а автосохранение с дебаунсингом предотвращает потерю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Основной стек включает четыре ключевые технологии. React 18 обеспечивает компонентную архитектуру и виртуальный DOM. TypeScript 4.9 добавляет строгую типизацию, что критически важно для иерархических данных. MobX 6 управляет состоянием с минимальным шаблонным кодом через observable-поля и observer-компоненты. Tailwind CSS 3 даёт утилитарный подход к стилизации с поддержкой тёмной темы через директиву dark:. Дополнительно используются: React Router 6 для маршрутизации, @dnd-kit для Drag-and-Drop и Create React App для сборки.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приложения построена по классической схеме одностраничного приложения с централизованным управлением состоянием. Компоненты React (UI) получают доступ к экземпляру TaskStore через Context API. Компоненты, помеченные декоратором observer, автоматически подписываются на изменения observable-полей и перерисовываются при их изменении. Пользовательские действия вызывают методы store (actions), которые обновляют состояние. Сохранение данных осуществляется через scheduleSave() с дебаунсингом 500 мс. При загрузке приложения данные восстанавливаются из localStorage.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Управление состоянием реализовано через MobX. Класс TaskStore содержит observable-поля (наблюдаемые), actions (методы изменения) и computed-свойства (вычисляемые). Когда пользователь взаимодействует с интерфейсом, вызывается action, который изменяет observable-поле. MobX автоматически уведомляет все observer-компоненты, использующие это поле, и они перерисовываются. Computed-свойства, такие как filteredTasks, автоматически пересчитываются при изменении зависимых полей. Этот реактивный подход обеспечивает синхронизацию UI с состоянием без ручного управления подписками.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Хранение данных реализовано через Web Storage API (localStorage). Это встроенный механизм браузера, не требующий серверной инфраструктуры. Данные сохраняются в формате JSON. Используются четыре ключа: taskList (дерево задач), tasklist_theme (тема), tasklist_lang (язык) и tasklist_ai_key (API-ключ AI). Сохранение происходит автоматически с задержкой 500 мс после последнего изменения (дебаунсинг), что предотвращает избыточные операции записи при быстром вводе текста. При инициализации приложения данные восстанавливаются из localStorage в обратном порядке.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 проектировании пользовательского интерфейса особое внимание уделено трём аспектам: адаптивность, дизайн-система и Drag-and-Drop. Адаптивность реализована через Tailwind breakpoints: десктопная двухпанельная версия, мобильная с гамбургер-меню и backdrop. Дизайн-система имитирует стиль Apple: системный шрифт SF Pro, прозрачные тени, скруглённые углы и характерная цветовая палитра. Drag-and-Drop реализован на @dnd-kit с PointerSensor, активацией по расстоянию 8 пикселей и вынесением маркера перетаскивания в отдельную кнопку-грип, чтобы не мешать обычным кликам. DndContext реализован на двух уровнях: для задач в Home и для блоков в NotionContent.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процессе разработки возникло несколько ключевых проблем. Первая — сложность управления иерархическим деревом задач в React; решена переходом на MobX, который позволяет мутировать вложенные объекты с автоматическим отслеживанием изменений. Вторая — конфликт между Drag-and-Drop и кликами по элементам задачи; решён вынесением DnD-слушателей на отдельный маркер-грип. Третья — производительность при сохранении; решена дебаунсингом и локальным состоянием блоков. Четвёртая — поддержка рисования на мобильных устройствах; решена переходом с MouseEvent на Pointer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Итоговые результаты: разработано React-приложение с компонентной архитектурой, MobX-состоянием и TypeScript-типизацией. Реализован блочный редактор, иерархическая модель документов, поиск, Drag-and-Drop, тёмная тема и четыре языка. Production-сборка занимает 99.5 kB JS в сжатом виде. Исходный код содержит около 2000 строк TypeScript, 16 React-компонентов и более 60 переводов на каждый из четырёх языков.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Перспективы развития проекта разделены на три горизонта. Ближайшие — расширение фронтенда: новые типы блоков, экспорт документов, завершение AI-функций (сейчас они помечены как Coming Soon). Среднесрочные — создание бэкенда на Node.js, базы данных, авторизации и синхронизации между устройствами. Долгосрочные — нативные приложения на React Native и Electron/Tauri, а также экосистема плагинов и интеграций.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с аналогами показывает, что наше приложение занимает нишу лёгкого, автономного редактора с неограниченной иерархией. В отличие от Google Docs, поддерживается блочная структура и Drag-and-Drop. В отличие от Notion — полная офлайн-работа без интернета. Ключевое преимущество — неограниченная вложенность задач и DnD как для задач, так и для блоков.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 отмечу, что все поставленные задачи выполнены. Разработано полнофункциональное веб-приложение с современным стеком технологий, production-сборка которого занимает менее 100 KB. Приложение развёрнуто на GitHub Pages и доступно по ссылке в репозитории. Спасибо за внимание! Готов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внимание! Доклад окончен, готов ответить на вопросы комиссии. Код проекта открыт на GitHub, приглашение к сотрудничеству.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560320"/>
            <a:ext cx="54864" cy="16459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7AFF"/>
                </a:solidFill>
                <a:latin typeface="Consolas"/>
              </a:rPr>
              <a:t>КУРСОВАЯ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FFFFF"/>
                </a:solidFill>
                <a:latin typeface="Calibri"/>
              </a:rPr>
              <a:t>Разработка
веб-приложения
текстового редактора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AEB2"/>
                </a:solidFill>
                <a:latin typeface="Calibri"/>
              </a:rPr>
              <a:t>по дисциплине «Веб-технологии»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Студент: ФИО студента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Группа: ИТ-XX-XX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Руководитель: ФИО преподавателя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36366"/>
                </a:solidFill>
                <a:latin typeface="Calibri"/>
              </a:rPr>
              <a:t>Название университета  • 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Актуальность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303520" cy="22860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52120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Проблема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Рост объёмов цифровой информации требует эффективных инструментов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Традиционные редакторы (Word) избыточны для заметок и планов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Потребность в гибкой, кроссплатформенной системе без установки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303520" cy="22860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554480"/>
            <a:ext cx="52120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Решение — веб-редактор с блочной структурой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Популяризация Notion-подобных редакторов (блоки, а не линейный текст)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Иерархическая организация документов (задачи + подзадачи)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Современный стек: React + TypeScript + MobX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10927080" cy="1828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14800"/>
            <a:ext cx="1083564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Области применения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10469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Ведение личных заметок и планирование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Управление проектами (иерархия задач, статусы)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Образование (структурирование учебных материалов)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Техническая документация с блоками (текст, таблицы, схемы, изображения)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Цель и задачи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Цель: разработать веб-приложение текстового редактора с блочной структурой документа и иерархической организацией содержимого.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AEAEB2"/>
                </a:solidFill>
                <a:latin typeface="Calibri"/>
              </a:rPr>
              <a:t>1.  Спроектировать архитектуру на React + TypeScript + MobX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AEAEB2"/>
                </a:solidFill>
                <a:latin typeface="Calibri"/>
              </a:rPr>
              <a:t>2.  Реализовать иерархическую модель документов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AEAEB2"/>
                </a:solidFill>
                <a:latin typeface="Calibri"/>
              </a:rPr>
              <a:t>3.  Разработать блочную систему (текст, изображения, таблицы, рисунки)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AEAEB2"/>
                </a:solidFill>
                <a:latin typeface="Calibri"/>
              </a:rPr>
              <a:t>4.  Реализовать поиск и Drag-and-Drop перетаскивание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AEAEB2"/>
                </a:solidFill>
                <a:latin typeface="Calibri"/>
              </a:rPr>
              <a:t>5.  Обеспечить сохранение данных в localStorage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AEAEB2"/>
                </a:solidFill>
                <a:latin typeface="Calibri"/>
              </a:rPr>
              <a:t>6.  Реализовать тёмную тему и многоязычный интерфейс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68880"/>
            <a:ext cx="5303520" cy="34747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2468880"/>
            <a:ext cx="521208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Объект и предмет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175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Объект: процесс разработки веб-приложений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Предмет: методы создания компонентного текстового редактора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Практическая значимость: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Функционирующий прототип для дальнейшего развития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Основа для курсовых и дипломных работ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Описание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TaskList — одностраничное веб-приложение (SPA) для создания и редактирования структурированных документов с блочным содержимым.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3383280" cy="34747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Блочный редактор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Текст — редактирование по месту, авто-высота, Enter для завершения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Изображения — загрузка через FileReader, base64, превью с именем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Таблицы — редактируемые ячейки, +/– строки и столбцы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Рисование — Canvas + Pointer Events, touch-поддержка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94560"/>
            <a:ext cx="3383280" cy="34747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19456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Иерархия и навигация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Вложенность задач: любая глубина дерева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Раскрытие/сворачивание подзадач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Каскадное обновление статусов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Поиск: рекурсивный, регистронезависимый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Drag-and-Drop: перестановка задач и блоков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94560"/>
            <a:ext cx="3383280" cy="34747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9456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UI и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Адаптивный дизайн (десктоп / планшет / мобильный)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Apple-стиль: скругления, тени, системный шрифт SF Pro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Тёмная тема (dark mode через Tailwind)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4 языка: EN, RU, ES, ZH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Зарезервированы AI-функции («Coming soon»)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Функциональность приложения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303520" cy="22860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52120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Работа с документами (задачами)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Создание с формой: название, описание, блоки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Редактирование по месту (название, текст, блоки)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Удаление с перенумерацией идентификаторов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Отметка выполнения с каскадным обновлением потомков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303520" cy="22860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554480"/>
            <a:ext cx="52120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Работа с блоками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Добавление через меню (текст, изображение, таблица, рисунок)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Drag-and-Drop перестановка блоков внутри документа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Удаление через кнопку × при наведении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Редактирование без переключения режимов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303520" cy="201168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114800"/>
            <a:ext cx="521208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Поиск и навигация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Поле поиска в боковой панели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Рекурсивный обход дерева задач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Сохранение контекста (родительские ветки)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Хлебные крошки (breadcrumbs) для навигации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5303520" cy="201168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4114800"/>
            <a:ext cx="521208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Система и настройки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6344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Автосохранение с debounce 500 мс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localStorage: тема, язык, API-ключ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Светлая/тёмная тема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Многоязычность (4 языка через кастомный словарь)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Стек технологий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2331720" cy="41148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" y="1554480"/>
            <a:ext cx="2258568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React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Библиотека для построения UI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Компонентный подход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Виртуальный DOM для производительности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Огромная экосистема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331720" cy="41148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554480"/>
            <a:ext cx="2258568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TypeScript 4.9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Статическая типизация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Раннее выявление ошибок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Автодополнение в IDE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Индустриальный стандарт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54480"/>
            <a:ext cx="2331720" cy="41148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34456" y="1554480"/>
            <a:ext cx="2258568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83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MobX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28600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Реактивное управление состоянием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observable / computed / action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Минимум шаблонного кода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Автоматическое обновление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554480"/>
            <a:ext cx="2331720" cy="41148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94776" y="1554480"/>
            <a:ext cx="2258568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783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Tailwind CSS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28600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Утилитарный CSS-фреймворк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dark: — тёмная тема из коробки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Переиспользуемые токены дизайна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Минимальный CSS в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36366"/>
                </a:solidFill>
                <a:latin typeface="Calibri"/>
              </a:rPr>
              <a:t>Сборка: Create React App (react-scripts 5)  •  Роутинг: React Router 6  •  DnD: @dnd-kit/core + @dnd-kit/sortable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Архитектура приложения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3657600" cy="1645920"/>
          </a:xfrm>
          <a:prstGeom prst="roundRect">
            <a:avLst/>
          </a:prstGeom>
          <a:solidFill>
            <a:srgbClr val="2C2C2E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7AFF"/>
                </a:solidFill>
                <a:latin typeface="Calibri"/>
              </a:rPr>
              <a:t>UI (React Components)</a:t>
            </a:r>
          </a:p>
          <a:p>
            <a:pPr algn="ctr"/>
            <a:r>
              <a:rPr sz="1300">
                <a:solidFill>
                  <a:srgbClr val="AEAEB2"/>
                </a:solidFill>
                <a:latin typeface="Calibri"/>
              </a:rPr>
              <a:t>Home, TaskItem, NotionContent,
TextBlock, CreateTaskForm...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3657600" cy="1645920"/>
          </a:xfrm>
          <a:prstGeom prst="roundRect">
            <a:avLst/>
          </a:prstGeom>
          <a:solidFill>
            <a:srgbClr val="2C2C2E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34C759"/>
                </a:solidFill>
                <a:latin typeface="Calibri"/>
              </a:rPr>
              <a:t>Store (MobX)</a:t>
            </a:r>
          </a:p>
          <a:p>
            <a:pPr algn="ctr"/>
            <a:r>
              <a:rPr sz="1300">
                <a:solidFill>
                  <a:srgbClr val="AEAEB2"/>
                </a:solidFill>
                <a:latin typeface="Calibri"/>
              </a:rPr>
              <a:t>TaskStore
observable fields
actions, computeds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114800"/>
            <a:ext cx="4114800" cy="1188720"/>
          </a:xfrm>
          <a:prstGeom prst="roundRect">
            <a:avLst/>
          </a:prstGeom>
          <a:solidFill>
            <a:srgbClr val="2C2C2E"/>
          </a:solidFill>
          <a:ln w="12700">
            <a:solidFill>
              <a:srgbClr val="636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AEAEB2"/>
                </a:solidFill>
                <a:latin typeface="Calibri"/>
              </a:rPr>
              <a:t>localStorage (Web Storage API)</a:t>
            </a:r>
          </a:p>
          <a:p>
            <a:pPr algn="ctr"/>
            <a:r>
              <a:rPr sz="1300">
                <a:solidFill>
                  <a:srgbClr val="636366"/>
                </a:solidFill>
                <a:latin typeface="Calibri"/>
              </a:rPr>
              <a:t>Персистентное хранение: JSON → localStorage →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36366"/>
                </a:solidFill>
                <a:latin typeface="Calibri"/>
              </a:rPr>
              <a:t>═══  observer  ═══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36366"/>
                </a:solidFill>
                <a:latin typeface="Calibri"/>
              </a:rPr>
              <a:t>═══  action  ═══▶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840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36366"/>
                </a:solidFill>
                <a:latin typeface="Calibri"/>
              </a:rPr>
              <a:t>⤑  scheduleSave()  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36366"/>
                </a:solidFill>
                <a:latin typeface="Calibri"/>
              </a:rPr>
              <a:t>⤑  loadOnStart()  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36366"/>
                </a:solidFill>
                <a:latin typeface="Calibri"/>
              </a:rPr>
              <a:t>Context.Provider  →  экземпляр TaskStore доступен всем компонентам через useContext(Context)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Работа с состоянием (MobX)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Observable (наблюдаемые поля)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taskList: ITask[] — дерево задач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focusedTaskId: string | null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searchQuery: string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theme: 'light' | 'dark'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language: Lang (4 языка)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aiApiKey: 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554480"/>
            <a:ext cx="329184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Actions (методы изменения)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createNewTask() / deleteTask()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updateTask() / toggleTask()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addBlock() / updateBlock() / deleteBlock()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reorderTask() / reorderBlock()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setSearchQuery() / setTheme() / setLanguage()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scheduleSave() — дебаунсинг 500 мс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Computed (вычисляемые)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filteredTasks: рекурсивный поиск с фильтрацией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focusedTask: текущая выбранная задача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breadcrumbs: путь от корня до задачи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activeChildren: дочерние задачи текущей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52160"/>
            <a:ext cx="10515600" cy="64008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AEAEB2"/>
                </a:solidFill>
                <a:latin typeface="Consolas"/>
              </a:rPr>
              <a:t>observer(TaskItem) → автоматическая подписка на используемые observable-поля → перерисовка при изменениях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Хранение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303520" cy="21031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52120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localStorage (Web Storage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Ключи: taskList, tasklist_theme, tasklist_lang, tasklist_ai_key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Формат: JSON.stringify() / JSON.parse()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Автосохранение при каждом изменении с debounce 500 мс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Восстановление при инициализации приложения (loadFromLocalStorage)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303520" cy="21031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554480"/>
            <a:ext cx="52120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Сериализация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Дерево ITask → плоский JSON с рекурсивными taskList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Блоки: DataURL (base64) для изображений и рисунков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Массивы строк для таблиц и текстовые поля для текста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Оптимизация: сохранение только при наличии изменений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931920"/>
            <a:ext cx="10927080" cy="22860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31920"/>
            <a:ext cx="1083564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Flow сохранения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10469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Пользователь изменяет данные  →  вызывается метод Store (updateTask, toggleTask и т.д.)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Store обновляет observable-поле и вызывает scheduleSave()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scheduleSave: если таймер активен — сброс, иначе запуск таймера 500 мс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По истечении таймера: JSON.stringify(taskList) → localStorage.setItem()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При загрузке: localStorage.getItem() → JSON.parse() → this.taskList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UI/UX решения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Адаптивность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Десктоп: двухпанельный макет (340px sidebar)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Планшет: sidebar адаптируется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Мобильный: гамбургер-меню, backdrop overlay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min-h: 44px для touch-целей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Touch-action: none для Canvas (рисование)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554480"/>
            <a:ext cx="329184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Дизайн-система (Apple-style)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Цвета: apple-* (SF-палитра Apple)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Тени: apple-sm / md / lg (полупрозрачные)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Скругления: apple (10px) / apple-lg (14px)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Шрифт: -apple-system, SF Pro Text/Display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Плавные transitions: duration-150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Drag-and-Drop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Библиотека: @dnd-kit/core + @dnd-kit/sortable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Датчик: PointerSensor (мышь + touch)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Активация: distance &gt;= 8 пикселей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Маркер: 6-точечный грип на карточке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DragOverlay: «призрак» перетаскивания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Вложенные DndContext: задачи + блоки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Проблемы и решения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3035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52120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Сложность управления иерархическим состоянием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Проблема: мутации вложенных объектов в React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Решение: MobX с observable + action — мутации отслеживаются автоматически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Результат: любое изменение дерева немедленно отражается в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3035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554480"/>
            <a:ext cx="521208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Конфликт Drag-and-Drop с кликами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Проблема: DnD перехватывал клики по кнопкам задач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Решение: listeners только на грип-маркере, stopPropagation на кнопках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Результат: чекбоксы, кнопки, раскрытие работают без конфликтов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74720"/>
            <a:ext cx="53035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74720"/>
            <a:ext cx="52120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Производительность при большом количестве блоков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Проблема: частые перерисовки при редактировании текста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Решение: дебаунсинг сохранения (500 мс), локальный state блоков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Результат: плавный ввод без задержек и лишних записей в localStorage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474720"/>
            <a:ext cx="530352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3474720"/>
            <a:ext cx="521208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Рисование на мобильных устройствах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23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Проблема: MouseEvent не работал на touch-устройствах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Решение: Pointer Events + setPointerCapture + touch-action: none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Результат: рисование работает одинаково на мыши и тачскрине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Результаты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Архитектура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React-приложение с компонентной архитектурой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Централизованное состояние на MobX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Маршрутизация через React Router 6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Типизация данных через TypeScript (ITask, IBlock)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554480"/>
            <a:ext cx="329184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Функционал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Блочный редактор (4 типа блоков)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Иерархическая модель документов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Рекурсивный поиск по названиям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Drag-and-Drop (задачи + блоки)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Тёмная тема + 4 языка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Технические метрики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Production build: 99.5 kB JS gzip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CSS: 5.3 kB gzip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Исходный код: ~2000 строк TypeScript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Компонентов: 16 React-компонентов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Словарь: 60+ ключей × 4 языка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Перспективы развития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Ближайшие (расширение фронтенда)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Новые типы блоков: код, чек-листы, базы данных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Экспорт в PDF / Markdown / HTML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Готовая интеграция AI-функций (структурирование, генерация)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Встраиваемые медиа (YouTube, Figma)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554480"/>
            <a:ext cx="329184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Среднесрочные (backend)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Node.js/Express REST API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База данных (MongoDB или PostgreSQL)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Авторизация (JWT)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Синхронизация между устройствами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Совместное редактирование (WebSockets)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54480"/>
            <a:ext cx="3383280" cy="411480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2918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Долгосрочные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Мобильное приложение (React Native)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Десктопная версия (Electron / Tauri)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Плагины и темы сообщества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Интеграция с календарями и задачами (Google, Outlook)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Сравнение с аналогами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554480"/>
          <a:ext cx="1051559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988819"/>
                <a:gridCol w="1988819"/>
                <a:gridCol w="1988819"/>
                <a:gridCol w="1988819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AFF"/>
                          </a:solidFill>
                          <a:latin typeface="Calibri"/>
                        </a:rPr>
                        <a:t>Характеристика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AFF"/>
                          </a:solidFill>
                          <a:latin typeface="Calibri"/>
                        </a:rPr>
                        <a:t>Google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AFF"/>
                          </a:solidFill>
                          <a:latin typeface="Calibri"/>
                        </a:rPr>
                        <a:t>Notion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7AFF"/>
                          </a:solidFill>
                          <a:latin typeface="Calibri"/>
                        </a:rPr>
                        <a:t>Наше приложение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Блочная структура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Иерархия документов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Папки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Страницы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Неогр. вложенность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Офлайн-доступ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Ограниченно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Да (localStorage)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Drag-and-Drop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Ограниченно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AEAEB2"/>
                          </a:solidFill>
                          <a:latin typeface="Calibri"/>
                        </a:rPr>
                        <a:t>Да (задачи + блоки)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029200"/>
            <a:ext cx="10515600" cy="11887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029200"/>
            <a:ext cx="1042416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Ключевое отличие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Неограниченная иерархическая вложенность задач (отсутствует в Google Docs и частично в Notion)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Полная работа в офлайне без интернета (localStorage) — данные всегда доступны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Drag-and-Drop как на уровне задач, так и на уровне блоков внутри документа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" cy="64008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AEB2"/>
                </a:solidFill>
                <a:latin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515600" cy="18288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51560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0424160" cy="36576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Calibri"/>
              </a:rPr>
              <a:t>Выводы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Разработано веб-приложение текстового редактора с блочной структурой и иерархической организацией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Реализованы 4 типа блоков, поиск, DnD, тёмная тема, многоязычность, автосохранение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Стек: React 18 + TypeScript 4.9 + MobX 6 + Tailwind CSS 3 подтвердил свою эффективность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502920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474720"/>
            <a:ext cx="493776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Достигнутые цели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Все 6 поставленных задач выполнены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Приложение работает в production (99.5 kB gzip)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Развёрнуто на GitHub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474720"/>
            <a:ext cx="5212080" cy="1645920"/>
          </a:xfrm>
          <a:prstGeom prst="roundRect">
            <a:avLst/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474720"/>
            <a:ext cx="512064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Итоговый функционал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0233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CRUD задач с неогр. вложенностью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4 типа блоков (текст, изображение, таблица, рисунок)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AEAEB2"/>
                </a:solidFill>
                <a:latin typeface="Calibri"/>
              </a:rPr>
              <a:t>•  Рекурсивный поиск • DnD • Тёмная тема • i18n (4 языка)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36366"/>
                </a:solidFill>
                <a:latin typeface="Calibri"/>
              </a:rPr>
              <a:t>Репозиторий: https://github.com/lfyz12/taskList    |  Исходный код доступен для ознакомления и использования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1828800"/>
            <a:ext cx="6705295" cy="3200400"/>
          </a:xfrm>
          <a:prstGeom prst="round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88920" y="1828800"/>
            <a:ext cx="6613855" cy="457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194560"/>
            <a:ext cx="5790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5790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EAEB2"/>
                </a:solidFill>
                <a:latin typeface="Calibri"/>
              </a:rPr>
              <a:t>Вопросы?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65760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7AFF"/>
                </a:solidFill>
                <a:latin typeface="Calibri"/>
              </a:rPr>
              <a:t>https://github.com/lfyz12/taskList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11480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36366"/>
                </a:solidFill>
                <a:latin typeface="Calibri"/>
              </a:rPr>
              <a:t>ФИО студента  •  ИТ-XX-XX  •  Город,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